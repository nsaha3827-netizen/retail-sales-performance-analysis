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ricolage Grotesque" charset="1" panose="020B0605040402000204"/>
      <p:regular r:id="rId17"/>
    </p:embeddedFont>
    <p:embeddedFont>
      <p:font typeface="Bricolage Grotesque Bold" charset="1" panose="020B0605040402000204"/>
      <p:regular r:id="rId18"/>
    </p:embeddedFont>
    <p:embeddedFont>
      <p:font typeface="Aileron" charset="1" panose="00000500000000000000"/>
      <p:regular r:id="rId19"/>
    </p:embeddedFont>
    <p:embeddedFont>
      <p:font typeface="Aileron Bold" charset="1" panose="00000800000000000000"/>
      <p:regular r:id="rId20"/>
    </p:embeddedFont>
    <p:embeddedFont>
      <p:font typeface="Proxima Nova" charset="1" panose="0200050603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14118">
            <a:off x="-2046524" y="3776605"/>
            <a:ext cx="7730547" cy="8766599"/>
          </a:xfrm>
          <a:custGeom>
            <a:avLst/>
            <a:gdLst/>
            <a:ahLst/>
            <a:cxnLst/>
            <a:rect r="r" b="b" t="t" l="l"/>
            <a:pathLst>
              <a:path h="8766599" w="7730547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242124"/>
            <a:ext cx="10235751" cy="241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763"/>
              </a:lnSpc>
              <a:spcBef>
                <a:spcPct val="0"/>
              </a:spcBef>
            </a:pPr>
            <a:r>
              <a:rPr lang="en-US" sz="14116" spc="-183">
                <a:solidFill>
                  <a:srgbClr val="37727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262638">
            <a:off x="-2056903" y="5761004"/>
            <a:ext cx="7431557" cy="7772988"/>
          </a:xfrm>
          <a:custGeom>
            <a:avLst/>
            <a:gdLst/>
            <a:ahLst/>
            <a:cxnLst/>
            <a:rect r="r" b="b" t="t" l="l"/>
            <a:pathLst>
              <a:path h="7772988" w="7431557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44661" y="6285457"/>
            <a:ext cx="7014639" cy="929247"/>
            <a:chOff x="0" y="0"/>
            <a:chExt cx="1847477" cy="244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7477" cy="244740"/>
            </a:xfrm>
            <a:custGeom>
              <a:avLst/>
              <a:gdLst/>
              <a:ahLst/>
              <a:cxnLst/>
              <a:rect r="r" b="b" t="t" l="l"/>
              <a:pathLst>
                <a:path h="244740" w="1847477">
                  <a:moveTo>
                    <a:pt x="110368" y="0"/>
                  </a:moveTo>
                  <a:lnTo>
                    <a:pt x="1737109" y="0"/>
                  </a:lnTo>
                  <a:cubicBezTo>
                    <a:pt x="1766380" y="0"/>
                    <a:pt x="1794453" y="11628"/>
                    <a:pt x="1815151" y="32326"/>
                  </a:cubicBezTo>
                  <a:cubicBezTo>
                    <a:pt x="1835849" y="53024"/>
                    <a:pt x="1847477" y="81097"/>
                    <a:pt x="1847477" y="110368"/>
                  </a:cubicBezTo>
                  <a:lnTo>
                    <a:pt x="1847477" y="134372"/>
                  </a:lnTo>
                  <a:cubicBezTo>
                    <a:pt x="1847477" y="163643"/>
                    <a:pt x="1835849" y="191716"/>
                    <a:pt x="1815151" y="212414"/>
                  </a:cubicBezTo>
                  <a:cubicBezTo>
                    <a:pt x="1794453" y="233112"/>
                    <a:pt x="1766380" y="244740"/>
                    <a:pt x="1737109" y="244740"/>
                  </a:cubicBezTo>
                  <a:lnTo>
                    <a:pt x="110368" y="244740"/>
                  </a:lnTo>
                  <a:cubicBezTo>
                    <a:pt x="81097" y="244740"/>
                    <a:pt x="53024" y="233112"/>
                    <a:pt x="32326" y="212414"/>
                  </a:cubicBezTo>
                  <a:cubicBezTo>
                    <a:pt x="11628" y="191716"/>
                    <a:pt x="0" y="163643"/>
                    <a:pt x="0" y="134372"/>
                  </a:cubicBezTo>
                  <a:lnTo>
                    <a:pt x="0" y="110368"/>
                  </a:lnTo>
                  <a:cubicBezTo>
                    <a:pt x="0" y="81097"/>
                    <a:pt x="11628" y="53024"/>
                    <a:pt x="32326" y="32326"/>
                  </a:cubicBezTo>
                  <a:cubicBezTo>
                    <a:pt x="53024" y="11628"/>
                    <a:pt x="81097" y="0"/>
                    <a:pt x="11036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47477" cy="282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800000">
            <a:off x="15568054" y="6528608"/>
            <a:ext cx="1328837" cy="442946"/>
          </a:xfrm>
          <a:custGeom>
            <a:avLst/>
            <a:gdLst/>
            <a:ahLst/>
            <a:cxnLst/>
            <a:rect r="r" b="b" t="t" l="l"/>
            <a:pathLst>
              <a:path h="442946" w="1328837">
                <a:moveTo>
                  <a:pt x="0" y="0"/>
                </a:moveTo>
                <a:lnTo>
                  <a:pt x="1328837" y="0"/>
                </a:lnTo>
                <a:lnTo>
                  <a:pt x="1328837" y="442945"/>
                </a:lnTo>
                <a:lnTo>
                  <a:pt x="0" y="442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291582">
            <a:off x="12886476" y="-16221"/>
            <a:ext cx="4823650" cy="5470119"/>
          </a:xfrm>
          <a:custGeom>
            <a:avLst/>
            <a:gdLst/>
            <a:ahLst/>
            <a:cxnLst/>
            <a:rect r="r" b="b" t="t" l="l"/>
            <a:pathLst>
              <a:path h="5470119" w="4823650">
                <a:moveTo>
                  <a:pt x="0" y="0"/>
                </a:moveTo>
                <a:lnTo>
                  <a:pt x="4823650" y="0"/>
                </a:lnTo>
                <a:lnTo>
                  <a:pt x="4823650" y="5470119"/>
                </a:lnTo>
                <a:lnTo>
                  <a:pt x="0" y="547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595115"/>
            <a:ext cx="11975624" cy="43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93"/>
              </a:lnSpc>
              <a:spcBef>
                <a:spcPct val="0"/>
              </a:spcBef>
            </a:pPr>
            <a:r>
              <a:rPr lang="en-US" b="true" sz="25423" spc="-330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7411" y="6588786"/>
            <a:ext cx="4780864" cy="42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91"/>
              </a:lnSpc>
              <a:spcBef>
                <a:spcPct val="0"/>
              </a:spcBef>
            </a:pPr>
            <a:r>
              <a:rPr lang="en-US" sz="3546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Bu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in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ss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Pr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es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3546" strike="noStrike" u="none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8876" y="1168915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00585" y="8993506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www.reallygreatsite.com</a:t>
            </a: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958281"/>
            <a:ext cx="3558715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599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Presented by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06567" y="8942089"/>
            <a:ext cx="1755724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Niloy Saha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0196" y="4233545"/>
            <a:ext cx="13767608" cy="180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Th</a:t>
            </a: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e company is a multi-store retail business operating across multiple cities.</a:t>
            </a:r>
          </a:p>
          <a:p>
            <a:pPr algn="l" marL="474978" indent="-237489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It deals in various product categories such as Snacks, Beverages, Dairy, Bakery, and Personal Care.</a:t>
            </a:r>
          </a:p>
          <a:p>
            <a:pPr algn="l" marL="474978" indent="-237489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The business manages sales, inventory, and product distribution across stores.</a:t>
            </a:r>
          </a:p>
          <a:p>
            <a:pPr algn="l" marL="474978" indent="-237489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The goal is to maximize sales and profitability while maintaining optimal inventory levels.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954170" y="2214759"/>
            <a:ext cx="14379660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40"/>
              </a:lnSpc>
            </a:pPr>
            <a:r>
              <a:rPr lang="en-US" b="true" sz="12000" spc="-156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00505"/>
            <a:ext cx="10235751" cy="2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40"/>
              </a:lnSpc>
            </a:pPr>
            <a:r>
              <a:rPr lang="en-US" b="true" sz="12000" spc="-156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Problem Statement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00963"/>
            <a:ext cx="15557576" cy="436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The retail business is facing challenges in understanding its sales performance and inventory efficiency across multiple stores and product categories. </a:t>
            </a:r>
            <a:r>
              <a:rPr lang="en-US" sz="29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Despite having large volumes of data, the business lacks clarity on:</a:t>
            </a:r>
          </a:p>
          <a:p>
            <a:pPr algn="l">
              <a:lnSpc>
                <a:spcPts val="3899"/>
              </a:lnSpc>
            </a:pP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Which products and categories drive the most revenue and profit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Whether inventory levels are aligned with sales demand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How sales and profit trends change over time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Which areas are causing low profitability or inefficiencies</a:t>
            </a:r>
          </a:p>
          <a:p>
            <a:pPr algn="l">
              <a:lnSpc>
                <a:spcPts val="389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6391177" y="2038193"/>
            <a:ext cx="868123" cy="86812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586276" y="2234596"/>
            <a:ext cx="477924" cy="475317"/>
          </a:xfrm>
          <a:custGeom>
            <a:avLst/>
            <a:gdLst/>
            <a:ahLst/>
            <a:cxnLst/>
            <a:rect r="r" b="b" t="t" l="l"/>
            <a:pathLst>
              <a:path h="475317" w="477924">
                <a:moveTo>
                  <a:pt x="0" y="0"/>
                </a:moveTo>
                <a:lnTo>
                  <a:pt x="477924" y="0"/>
                </a:lnTo>
                <a:lnTo>
                  <a:pt x="477924" y="475317"/>
                </a:lnTo>
                <a:lnTo>
                  <a:pt x="0" y="475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4150" y="1971579"/>
            <a:ext cx="15189009" cy="1875046"/>
          </a:xfrm>
          <a:custGeom>
            <a:avLst/>
            <a:gdLst/>
            <a:ahLst/>
            <a:cxnLst/>
            <a:rect r="r" b="b" t="t" l="l"/>
            <a:pathLst>
              <a:path h="1875046" w="15189009">
                <a:moveTo>
                  <a:pt x="0" y="0"/>
                </a:moveTo>
                <a:lnTo>
                  <a:pt x="15189008" y="0"/>
                </a:lnTo>
                <a:lnTo>
                  <a:pt x="15189008" y="1875046"/>
                </a:lnTo>
                <a:lnTo>
                  <a:pt x="0" y="1875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37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97269" y="276225"/>
            <a:ext cx="10861710" cy="134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89"/>
              </a:lnSpc>
            </a:pPr>
            <a:r>
              <a:rPr lang="en-US" b="true" sz="10640" spc="-138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Sales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17838"/>
            <a:ext cx="15736436" cy="484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sales is about 13.12 million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profit is 986.98 K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Sales declined significantly (↓24.62% YoY), indicating a drop in overall business performance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Units sold also decreased (↓20.38%), showing reduced customer demand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Profit dropped sharply (↓32.97%), faster than sales → clear margin pressure 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COGS remains high (9.46M), suggesting potential cost inefficiencies or low-margin products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68% sales occur on weekdays, highlighting untapped weekend opportunity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53219" y="1826895"/>
            <a:ext cx="6329597" cy="1444113"/>
          </a:xfrm>
          <a:custGeom>
            <a:avLst/>
            <a:gdLst/>
            <a:ahLst/>
            <a:cxnLst/>
            <a:rect r="r" b="b" t="t" l="l"/>
            <a:pathLst>
              <a:path h="1444113" w="6329597">
                <a:moveTo>
                  <a:pt x="0" y="0"/>
                </a:moveTo>
                <a:lnTo>
                  <a:pt x="6329597" y="0"/>
                </a:lnTo>
                <a:lnTo>
                  <a:pt x="6329597" y="1444113"/>
                </a:lnTo>
                <a:lnTo>
                  <a:pt x="0" y="1444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57" t="0" r="-49483" b="-14409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519450" y="3425071"/>
            <a:ext cx="4063366" cy="1842573"/>
          </a:xfrm>
          <a:custGeom>
            <a:avLst/>
            <a:gdLst/>
            <a:ahLst/>
            <a:cxnLst/>
            <a:rect r="r" b="b" t="t" l="l"/>
            <a:pathLst>
              <a:path h="1842573" w="4063366">
                <a:moveTo>
                  <a:pt x="0" y="0"/>
                </a:moveTo>
                <a:lnTo>
                  <a:pt x="4063366" y="0"/>
                </a:lnTo>
                <a:lnTo>
                  <a:pt x="4063366" y="1842573"/>
                </a:lnTo>
                <a:lnTo>
                  <a:pt x="0" y="18425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0884" t="0" r="-439" b="-15230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985948" y="5420044"/>
            <a:ext cx="3596868" cy="1833805"/>
          </a:xfrm>
          <a:custGeom>
            <a:avLst/>
            <a:gdLst/>
            <a:ahLst/>
            <a:cxnLst/>
            <a:rect r="r" b="b" t="t" l="l"/>
            <a:pathLst>
              <a:path h="1833805" w="3596868">
                <a:moveTo>
                  <a:pt x="0" y="0"/>
                </a:moveTo>
                <a:lnTo>
                  <a:pt x="3596868" y="0"/>
                </a:lnTo>
                <a:lnTo>
                  <a:pt x="3596868" y="1833805"/>
                </a:lnTo>
                <a:lnTo>
                  <a:pt x="0" y="1833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80" t="-76443" r="-142901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070582" y="7406249"/>
            <a:ext cx="6512234" cy="2365075"/>
          </a:xfrm>
          <a:custGeom>
            <a:avLst/>
            <a:gdLst/>
            <a:ahLst/>
            <a:cxnLst/>
            <a:rect r="r" b="b" t="t" l="l"/>
            <a:pathLst>
              <a:path h="2365075" w="6512234">
                <a:moveTo>
                  <a:pt x="0" y="0"/>
                </a:moveTo>
                <a:lnTo>
                  <a:pt x="6512234" y="0"/>
                </a:lnTo>
                <a:lnTo>
                  <a:pt x="6512234" y="2365076"/>
                </a:lnTo>
                <a:lnTo>
                  <a:pt x="0" y="2365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538" t="-75605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197269" y="285750"/>
            <a:ext cx="11003245" cy="135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17"/>
              </a:lnSpc>
            </a:pPr>
            <a:r>
              <a:rPr lang="en-US" b="true" sz="10779" spc="-14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Sales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70217"/>
            <a:ext cx="9992500" cy="776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Profit is falling faster than sales, showing inefficiency in cost management or low-margin product mix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Snacks is the top-performing category (3.6M sales), while Bakery is the lowest (~0.8M) → clear category performance gap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Sales trend shows a sharp dip around Aug–Sep, indicating possible seasonality or operational issues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Weekday contributes 68% of sales, meaning business is highly weekday dependent → weekend growth opportunity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Top cities like Ciudad de Mexico &amp; Guadalajara drive major revenue, showing geographical concentration of sales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Few stores dominate sales (Top stores ~0.4–0.5M) → performance is not evenly distributed across stores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958" y="623691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49" y="0"/>
                </a:lnTo>
                <a:lnTo>
                  <a:pt x="385449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37897" y="1701754"/>
            <a:ext cx="4669175" cy="387672"/>
          </a:xfrm>
          <a:custGeom>
            <a:avLst/>
            <a:gdLst/>
            <a:ahLst/>
            <a:cxnLst/>
            <a:rect r="r" b="b" t="t" l="l"/>
            <a:pathLst>
              <a:path h="387672" w="4669175">
                <a:moveTo>
                  <a:pt x="0" y="0"/>
                </a:moveTo>
                <a:lnTo>
                  <a:pt x="4669175" y="0"/>
                </a:lnTo>
                <a:lnTo>
                  <a:pt x="4669175" y="387672"/>
                </a:lnTo>
                <a:lnTo>
                  <a:pt x="0" y="387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868" t="-149577" r="0" b="-56506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197269" y="238125"/>
            <a:ext cx="10775215" cy="115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42"/>
              </a:lnSpc>
            </a:pPr>
            <a:r>
              <a:rPr lang="en-US" b="true" sz="9176" spc="-119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Product analysis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8115" y="1332242"/>
            <a:ext cx="11969783" cy="922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Snacks is the highest selling category (~3.6M sales), contributing the largest share of revenue → key revenue driver 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akery is the lowest performing category (~0.8M sales) → potential area for improvement or cost optimization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Coffee is the most profitable product, indicating strong margin performance despite category competition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Ov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erall profit margin is 28%, showing a moderately healthy business but with scope for improvement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High sales ≠ high profit: Scatter plot shows some products with high sales but relatively lower profit → margin inefficiency 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Snacks is highest sale product but 2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nd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in profit but Beverage is 3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rd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in sales wise but profit wise it’s 1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.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Products like Namkeen and Shampoo show high profit margins (up to ~60–70%) → potential candidates for promotion and scaling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Certain products have low sales and low margin (e.g., Bakery items) → may need rationalization or repositioning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Category contribution is uneven, with Snacks and Beverages dominating → business is dependent on few categories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637897" y="2289451"/>
            <a:ext cx="3343275" cy="1795226"/>
          </a:xfrm>
          <a:custGeom>
            <a:avLst/>
            <a:gdLst/>
            <a:ahLst/>
            <a:cxnLst/>
            <a:rect r="r" b="b" t="t" l="l"/>
            <a:pathLst>
              <a:path h="1795226" w="3343275">
                <a:moveTo>
                  <a:pt x="0" y="0"/>
                </a:moveTo>
                <a:lnTo>
                  <a:pt x="3343275" y="0"/>
                </a:lnTo>
                <a:lnTo>
                  <a:pt x="3343275" y="1795226"/>
                </a:lnTo>
                <a:lnTo>
                  <a:pt x="0" y="1795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76550" b="-13047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37897" y="4284702"/>
            <a:ext cx="3343275" cy="1856576"/>
          </a:xfrm>
          <a:custGeom>
            <a:avLst/>
            <a:gdLst/>
            <a:ahLst/>
            <a:cxnLst/>
            <a:rect r="r" b="b" t="t" l="l"/>
            <a:pathLst>
              <a:path h="1856576" w="3343275">
                <a:moveTo>
                  <a:pt x="0" y="0"/>
                </a:moveTo>
                <a:lnTo>
                  <a:pt x="3343275" y="0"/>
                </a:lnTo>
                <a:lnTo>
                  <a:pt x="3343275" y="1856576"/>
                </a:lnTo>
                <a:lnTo>
                  <a:pt x="0" y="18565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7197" t="0" r="-72984" b="-11772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637897" y="6341303"/>
            <a:ext cx="4359195" cy="1456599"/>
          </a:xfrm>
          <a:custGeom>
            <a:avLst/>
            <a:gdLst/>
            <a:ahLst/>
            <a:cxnLst/>
            <a:rect r="r" b="b" t="t" l="l"/>
            <a:pathLst>
              <a:path h="1456599" w="4359195">
                <a:moveTo>
                  <a:pt x="0" y="0"/>
                </a:moveTo>
                <a:lnTo>
                  <a:pt x="4359196" y="0"/>
                </a:lnTo>
                <a:lnTo>
                  <a:pt x="4359196" y="1456599"/>
                </a:lnTo>
                <a:lnTo>
                  <a:pt x="0" y="14565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7436" r="-39956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637897" y="7949187"/>
            <a:ext cx="1391700" cy="2304380"/>
          </a:xfrm>
          <a:custGeom>
            <a:avLst/>
            <a:gdLst/>
            <a:ahLst/>
            <a:cxnLst/>
            <a:rect r="r" b="b" t="t" l="l"/>
            <a:pathLst>
              <a:path h="2304380" w="1391700">
                <a:moveTo>
                  <a:pt x="0" y="0"/>
                </a:moveTo>
                <a:lnTo>
                  <a:pt x="1391700" y="0"/>
                </a:lnTo>
                <a:lnTo>
                  <a:pt x="1391700" y="2304381"/>
                </a:lnTo>
                <a:lnTo>
                  <a:pt x="0" y="23043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0011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644407" y="763906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91548" y="1935534"/>
            <a:ext cx="5394152" cy="591455"/>
          </a:xfrm>
          <a:custGeom>
            <a:avLst/>
            <a:gdLst/>
            <a:ahLst/>
            <a:cxnLst/>
            <a:rect r="r" b="b" t="t" l="l"/>
            <a:pathLst>
              <a:path h="591455" w="5394152">
                <a:moveTo>
                  <a:pt x="0" y="0"/>
                </a:moveTo>
                <a:lnTo>
                  <a:pt x="5394152" y="0"/>
                </a:lnTo>
                <a:lnTo>
                  <a:pt x="5394152" y="591455"/>
                </a:lnTo>
                <a:lnTo>
                  <a:pt x="0" y="591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6" t="-14677" r="-9708" b="-62826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391548" y="2631764"/>
            <a:ext cx="3512057" cy="2068849"/>
          </a:xfrm>
          <a:custGeom>
            <a:avLst/>
            <a:gdLst/>
            <a:ahLst/>
            <a:cxnLst/>
            <a:rect r="r" b="b" t="t" l="l"/>
            <a:pathLst>
              <a:path h="2068849" w="3512057">
                <a:moveTo>
                  <a:pt x="0" y="0"/>
                </a:moveTo>
                <a:lnTo>
                  <a:pt x="3512057" y="0"/>
                </a:lnTo>
                <a:lnTo>
                  <a:pt x="3512057" y="2068849"/>
                </a:lnTo>
                <a:lnTo>
                  <a:pt x="0" y="20688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923" r="-97031" b="-10353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391548" y="4819742"/>
            <a:ext cx="2311497" cy="1482752"/>
          </a:xfrm>
          <a:custGeom>
            <a:avLst/>
            <a:gdLst/>
            <a:ahLst/>
            <a:cxnLst/>
            <a:rect r="r" b="b" t="t" l="l"/>
            <a:pathLst>
              <a:path h="1482752" w="2311497">
                <a:moveTo>
                  <a:pt x="0" y="0"/>
                </a:moveTo>
                <a:lnTo>
                  <a:pt x="2311497" y="0"/>
                </a:lnTo>
                <a:lnTo>
                  <a:pt x="2311497" y="1482752"/>
                </a:lnTo>
                <a:lnTo>
                  <a:pt x="0" y="1482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839" t="-33698" r="0" b="-9491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391548" y="6426319"/>
            <a:ext cx="2467497" cy="1466098"/>
          </a:xfrm>
          <a:custGeom>
            <a:avLst/>
            <a:gdLst/>
            <a:ahLst/>
            <a:cxnLst/>
            <a:rect r="r" b="b" t="t" l="l"/>
            <a:pathLst>
              <a:path h="1466098" w="2467497">
                <a:moveTo>
                  <a:pt x="0" y="0"/>
                </a:moveTo>
                <a:lnTo>
                  <a:pt x="2467497" y="0"/>
                </a:lnTo>
                <a:lnTo>
                  <a:pt x="2467497" y="1466099"/>
                </a:lnTo>
                <a:lnTo>
                  <a:pt x="0" y="1466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6588" r="-96351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91548" y="8016243"/>
            <a:ext cx="3055438" cy="1920549"/>
          </a:xfrm>
          <a:custGeom>
            <a:avLst/>
            <a:gdLst/>
            <a:ahLst/>
            <a:cxnLst/>
            <a:rect r="r" b="b" t="t" l="l"/>
            <a:pathLst>
              <a:path h="1920549" w="3055438">
                <a:moveTo>
                  <a:pt x="0" y="0"/>
                </a:moveTo>
                <a:lnTo>
                  <a:pt x="3055438" y="0"/>
                </a:lnTo>
                <a:lnTo>
                  <a:pt x="3055438" y="1920549"/>
                </a:lnTo>
                <a:lnTo>
                  <a:pt x="0" y="1920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078" t="-135857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197269" y="276225"/>
            <a:ext cx="10891355" cy="134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16"/>
              </a:lnSpc>
            </a:pPr>
            <a:r>
              <a:rPr lang="en-US" b="true" sz="10669" spc="-138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Inventory wise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170217"/>
            <a:ext cx="10932943" cy="727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stock = 29,742 units, indicati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ng strong inventory availability across stores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Only 28.74% stock is healthy, while 71.26% is low stock → major inventory risk.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Out-of-st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ock is 0%, meaning availability exists but not at optimal levels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Downtown holds 58% of total stock, showing heavy location concentration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Dairy (5,922) and Grains &amp; Cereals (5,201) dominate inventory, while Cleaning Supplies is lowest (1,820)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Stock vs Sales scatter shows imbalance, with some products having high stock but low sales → inefficiency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Store-level stock is uneven, with some stores holding significantly higher inventory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61643" y="2482923"/>
            <a:ext cx="6149680" cy="625720"/>
          </a:xfrm>
          <a:custGeom>
            <a:avLst/>
            <a:gdLst/>
            <a:ahLst/>
            <a:cxnLst/>
            <a:rect r="r" b="b" t="t" l="l"/>
            <a:pathLst>
              <a:path h="625720" w="6149680">
                <a:moveTo>
                  <a:pt x="0" y="0"/>
                </a:moveTo>
                <a:lnTo>
                  <a:pt x="6149680" y="0"/>
                </a:lnTo>
                <a:lnTo>
                  <a:pt x="6149680" y="625721"/>
                </a:lnTo>
                <a:lnTo>
                  <a:pt x="0" y="625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37" t="-22992" r="0" b="-53028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70217"/>
            <a:ext cx="10932943" cy="776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Sales = 13.12M across 50 stores, indicati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ng a moderate revenue distribution per store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Average sales per s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tore = 0.26M, showing scope for store-level performance improvement 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AOV (Average Order Value) = 17.57, suggesting low per-transaction value → upselling opportunity 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 strong correlation between store age and sales → older stores are not necessarily top performers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Top stores (e.g., Ciudad de Mexico locations) contribute highest sales (~0.4M–0.5M) → performance is concentrated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Region-wise distribution shows uneven store presence, with cities like Mexico City &amp; Monterrey having more stores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AOV vs Sales chart shows mismatch → some stores have high sales but low AOV, indicating high volume but low value transactions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947700" y="3293151"/>
            <a:ext cx="3398096" cy="1947578"/>
          </a:xfrm>
          <a:custGeom>
            <a:avLst/>
            <a:gdLst/>
            <a:ahLst/>
            <a:cxnLst/>
            <a:rect r="r" b="b" t="t" l="l"/>
            <a:pathLst>
              <a:path h="1947578" w="3398096">
                <a:moveTo>
                  <a:pt x="0" y="0"/>
                </a:moveTo>
                <a:lnTo>
                  <a:pt x="3398096" y="0"/>
                </a:lnTo>
                <a:lnTo>
                  <a:pt x="3398096" y="1947578"/>
                </a:lnTo>
                <a:lnTo>
                  <a:pt x="0" y="1947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7565" r="-124830" b="-10139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61643" y="5421704"/>
            <a:ext cx="4257595" cy="1937137"/>
          </a:xfrm>
          <a:custGeom>
            <a:avLst/>
            <a:gdLst/>
            <a:ahLst/>
            <a:cxnLst/>
            <a:rect r="r" b="b" t="t" l="l"/>
            <a:pathLst>
              <a:path h="1937137" w="4257595">
                <a:moveTo>
                  <a:pt x="0" y="0"/>
                </a:moveTo>
                <a:lnTo>
                  <a:pt x="4257595" y="0"/>
                </a:lnTo>
                <a:lnTo>
                  <a:pt x="4257595" y="1937137"/>
                </a:lnTo>
                <a:lnTo>
                  <a:pt x="0" y="1937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743" t="-47534" r="0" b="-10457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961643" y="7539816"/>
            <a:ext cx="4169136" cy="1837005"/>
          </a:xfrm>
          <a:custGeom>
            <a:avLst/>
            <a:gdLst/>
            <a:ahLst/>
            <a:cxnLst/>
            <a:rect r="r" b="b" t="t" l="l"/>
            <a:pathLst>
              <a:path h="1837005" w="4169136">
                <a:moveTo>
                  <a:pt x="0" y="0"/>
                </a:moveTo>
                <a:lnTo>
                  <a:pt x="4169136" y="0"/>
                </a:lnTo>
                <a:lnTo>
                  <a:pt x="4169136" y="1837004"/>
                </a:lnTo>
                <a:lnTo>
                  <a:pt x="0" y="1837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604" t="-137085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197269" y="314325"/>
            <a:ext cx="12249136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40"/>
              </a:lnSpc>
            </a:pPr>
            <a:r>
              <a:rPr lang="en-US" b="true" sz="12000" spc="-156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Store wise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50769" y="2749514"/>
            <a:ext cx="6071582" cy="3910405"/>
          </a:xfrm>
          <a:custGeom>
            <a:avLst/>
            <a:gdLst/>
            <a:ahLst/>
            <a:cxnLst/>
            <a:rect r="r" b="b" t="t" l="l"/>
            <a:pathLst>
              <a:path h="3910405" w="6071582">
                <a:moveTo>
                  <a:pt x="0" y="0"/>
                </a:moveTo>
                <a:lnTo>
                  <a:pt x="6071582" y="0"/>
                </a:lnTo>
                <a:lnTo>
                  <a:pt x="6071582" y="3910405"/>
                </a:lnTo>
                <a:lnTo>
                  <a:pt x="0" y="3910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45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70217"/>
            <a:ext cx="10701449" cy="824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Sales = 13.12M across 50 stores, indicati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ng a moderate revenue distribution per store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Average sales per s</a:t>
            </a: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tore = 0.26M, showing scope for store-level performance improvement 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AOV (Average Order Value) = 17.57, suggesting low per-transaction value → upselling opportunity 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 strong correlation between store age and sales → older stores are not necessarily top performers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Top stores (e.g., Ciudad de Mexico locations) contribute highest sales (~0.4M–0.5M) → performance is concentrated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Region-wise distribution shows uneven store presence, with cities like Mexico City &amp; Monterrey having more stores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AOV vs Sales chart shows mismatch → some stores have high sales but low AOV, indicating high volume but low value transactions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197269" y="285750"/>
            <a:ext cx="11017399" cy="135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29"/>
              </a:lnSpc>
            </a:pPr>
            <a:r>
              <a:rPr lang="en-US" b="true" sz="10793" spc="-14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Time wise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14613"/>
            <a:ext cx="16949424" cy="776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Improve Inventory 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Planning With 71% low stock, implement demand-based replenishment to avoid stock imbalance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Focus on High-Margin Products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Promote products like Namkeen, Shampoo (high margin) to increase overall profitability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Boost Low-Performing Categories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Categories like Bakery &amp; Cleaning Supplies need pricing, promotion, or bundling strategies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Increase Average Order Value (AOV)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 cross-selling / combo offers to increase the current low AOV (17.57) 💡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Optimize Store Performance</a:t>
            </a:r>
          </a:p>
          <a:p>
            <a:pPr algn="l">
              <a:lnSpc>
                <a:spcPts val="3899"/>
              </a:lnSpc>
            </a:pPr>
            <a:r>
              <a:rPr lang="en-US" sz="2999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Identify low-performing stores and apply strategies from top-performing stores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Reduce Sales Decline (YoY -24%)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Investigate causes (seasonality, competition, pricing) and introduce targeted campaigns 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Leverage Peak Days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Since Friday &amp; Saturday drive highest sales, run special offers/ads on these days</a:t>
            </a:r>
          </a:p>
          <a:p>
            <a:pPr algn="l" marL="647694" indent="-323847" lvl="1">
              <a:lnSpc>
                <a:spcPts val="38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Balance Stock vs Sales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 stock vs sales analysis to reduce overstock in low-selling products and avoid dead inventory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24899" y="247650"/>
            <a:ext cx="10357026" cy="121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57"/>
              </a:lnSpc>
            </a:pPr>
            <a:r>
              <a:rPr lang="en-US" b="true" sz="9627" spc="-125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Recommendation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14118">
            <a:off x="-2046524" y="3776605"/>
            <a:ext cx="7730547" cy="8766599"/>
          </a:xfrm>
          <a:custGeom>
            <a:avLst/>
            <a:gdLst/>
            <a:ahLst/>
            <a:cxnLst/>
            <a:rect r="r" b="b" t="t" l="l"/>
            <a:pathLst>
              <a:path h="8766599" w="7730547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62638">
            <a:off x="-2056903" y="5761004"/>
            <a:ext cx="7431557" cy="7772988"/>
          </a:xfrm>
          <a:custGeom>
            <a:avLst/>
            <a:gdLst/>
            <a:ahLst/>
            <a:cxnLst/>
            <a:rect r="r" b="b" t="t" l="l"/>
            <a:pathLst>
              <a:path h="7772988" w="7431557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291582">
            <a:off x="11752554" y="386083"/>
            <a:ext cx="5476897" cy="6210915"/>
          </a:xfrm>
          <a:custGeom>
            <a:avLst/>
            <a:gdLst/>
            <a:ahLst/>
            <a:cxnLst/>
            <a:rect r="r" b="b" t="t" l="l"/>
            <a:pathLst>
              <a:path h="6210915" w="5476897">
                <a:moveTo>
                  <a:pt x="0" y="0"/>
                </a:moveTo>
                <a:lnTo>
                  <a:pt x="5476897" y="0"/>
                </a:lnTo>
                <a:lnTo>
                  <a:pt x="5476897" y="6210915"/>
                </a:lnTo>
                <a:lnTo>
                  <a:pt x="0" y="6210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477954"/>
            <a:ext cx="11975624" cy="605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81"/>
              </a:lnSpc>
            </a:pPr>
            <a:r>
              <a:rPr lang="en-US" b="true" sz="25423" spc="-330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8876" y="1168915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00585" y="8993506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www.reallygreatsite.com</a:t>
            </a: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58281"/>
            <a:ext cx="3558715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599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Presented by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06567" y="8942089"/>
            <a:ext cx="1755724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Niloy Saha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582639" y="5892653"/>
            <a:ext cx="4585291" cy="1860479"/>
            <a:chOff x="0" y="0"/>
            <a:chExt cx="1207649" cy="4900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649" cy="490003"/>
            </a:xfrm>
            <a:custGeom>
              <a:avLst/>
              <a:gdLst/>
              <a:ahLst/>
              <a:cxnLst/>
              <a:rect r="r" b="b" t="t" l="l"/>
              <a:pathLst>
                <a:path h="490003" w="1207649">
                  <a:moveTo>
                    <a:pt x="50653" y="0"/>
                  </a:moveTo>
                  <a:lnTo>
                    <a:pt x="1156996" y="0"/>
                  </a:lnTo>
                  <a:cubicBezTo>
                    <a:pt x="1184971" y="0"/>
                    <a:pt x="1207649" y="22678"/>
                    <a:pt x="1207649" y="50653"/>
                  </a:cubicBezTo>
                  <a:lnTo>
                    <a:pt x="1207649" y="439350"/>
                  </a:lnTo>
                  <a:cubicBezTo>
                    <a:pt x="1207649" y="452784"/>
                    <a:pt x="1202312" y="465668"/>
                    <a:pt x="1192813" y="475167"/>
                  </a:cubicBezTo>
                  <a:cubicBezTo>
                    <a:pt x="1183314" y="484666"/>
                    <a:pt x="1170430" y="490003"/>
                    <a:pt x="1156996" y="490003"/>
                  </a:cubicBezTo>
                  <a:lnTo>
                    <a:pt x="50653" y="490003"/>
                  </a:lnTo>
                  <a:cubicBezTo>
                    <a:pt x="22678" y="490003"/>
                    <a:pt x="0" y="467325"/>
                    <a:pt x="0" y="439350"/>
                  </a:cubicBezTo>
                  <a:lnTo>
                    <a:pt x="0" y="50653"/>
                  </a:lnTo>
                  <a:cubicBezTo>
                    <a:pt x="0" y="22678"/>
                    <a:pt x="22678" y="0"/>
                    <a:pt x="50653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07649" cy="528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29285" y="6973643"/>
            <a:ext cx="2400761" cy="37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 spc="-79">
                <a:solidFill>
                  <a:srgbClr val="163B42"/>
                </a:solidFill>
                <a:latin typeface="Proxima Nova"/>
                <a:ea typeface="Proxima Nova"/>
                <a:cs typeface="Proxima Nova"/>
                <a:sym typeface="Proxima Nova"/>
              </a:rPr>
              <a:t>9836315141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29285" y="6263627"/>
            <a:ext cx="3285630" cy="37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 spc="-79">
                <a:solidFill>
                  <a:srgbClr val="163B42"/>
                </a:solidFill>
                <a:latin typeface="Proxima Nova"/>
                <a:ea typeface="Proxima Nova"/>
                <a:cs typeface="Proxima Nova"/>
                <a:sym typeface="Proxima Nova"/>
              </a:rPr>
              <a:t>nsaha3827@gmail.com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991784" y="6966620"/>
            <a:ext cx="424936" cy="424936"/>
          </a:xfrm>
          <a:custGeom>
            <a:avLst/>
            <a:gdLst/>
            <a:ahLst/>
            <a:cxnLst/>
            <a:rect r="r" b="b" t="t" l="l"/>
            <a:pathLst>
              <a:path h="424936" w="424936">
                <a:moveTo>
                  <a:pt x="0" y="0"/>
                </a:moveTo>
                <a:lnTo>
                  <a:pt x="424936" y="0"/>
                </a:lnTo>
                <a:lnTo>
                  <a:pt x="424936" y="424936"/>
                </a:lnTo>
                <a:lnTo>
                  <a:pt x="0" y="4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87032" y="6254228"/>
            <a:ext cx="429688" cy="429688"/>
          </a:xfrm>
          <a:custGeom>
            <a:avLst/>
            <a:gdLst/>
            <a:ahLst/>
            <a:cxnLst/>
            <a:rect r="r" b="b" t="t" l="l"/>
            <a:pathLst>
              <a:path h="429688" w="429688">
                <a:moveTo>
                  <a:pt x="0" y="0"/>
                </a:moveTo>
                <a:lnTo>
                  <a:pt x="429688" y="0"/>
                </a:lnTo>
                <a:lnTo>
                  <a:pt x="429688" y="429688"/>
                </a:lnTo>
                <a:lnTo>
                  <a:pt x="0" y="4296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DAHGpUxh6uY</dc:identifier>
  <dcterms:modified xsi:type="dcterms:W3CDTF">2011-08-01T06:04:30Z</dcterms:modified>
  <cp:revision>1</cp:revision>
  <dc:title>Green and White Modern Simple Startup Pitch Deck Business Presentation</dc:title>
</cp:coreProperties>
</file>